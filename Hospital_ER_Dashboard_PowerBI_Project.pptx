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5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No. of Patients</c:v>
                </c:pt>
              </c:strCache>
            </c:strRef>
          </c:tx>
          <c:spPr>
            <a:solidFill>
              <a:srgbClr val="007C91"/>
            </a:solidFill>
            <a:ln w="31750" cap="flat">
              <a:solidFill>
                <a:srgbClr val="007C9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7C91"/>
              </a:solidFill>
              <a:ln w="9525" cap="flat">
                <a:solidFill>
                  <a:srgbClr val="007C9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1-Jun</c:v>
                  </c:pt>
                  <c:pt idx="1">
                    <c:v>3-Jun</c:v>
                  </c:pt>
                  <c:pt idx="2">
                    <c:v>5-Jun</c:v>
                  </c:pt>
                  <c:pt idx="3">
                    <c:v>7-Jun</c:v>
                  </c:pt>
                  <c:pt idx="4">
                    <c:v>9-Jun</c:v>
                  </c:pt>
                  <c:pt idx="5">
                    <c:v>11-Jun</c:v>
                  </c:pt>
                  <c:pt idx="6">
                    <c:v>13-Jun</c:v>
                  </c:pt>
                  <c:pt idx="7">
                    <c:v>15-Jun</c:v>
                  </c:pt>
                  <c:pt idx="8">
                    <c:v>17-Jun</c:v>
                  </c:pt>
                  <c:pt idx="9">
                    <c:v>19-Jun</c:v>
                  </c:pt>
                  <c:pt idx="10">
                    <c:v>21-Jun</c:v>
                  </c:pt>
                  <c:pt idx="11">
                    <c:v>23-Jun</c:v>
                  </c:pt>
                  <c:pt idx="12">
                    <c:v>25-Jun</c:v>
                  </c:pt>
                  <c:pt idx="13">
                    <c:v>27-Jun</c:v>
                  </c:pt>
                  <c:pt idx="14">
                    <c:v>29-Jun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43</c:v>
                </c:pt>
                <c:pt idx="1">
                  <c:v>42</c:v>
                </c:pt>
                <c:pt idx="2">
                  <c:v>32</c:v>
                </c:pt>
                <c:pt idx="3">
                  <c:v>32</c:v>
                </c:pt>
                <c:pt idx="4">
                  <c:v>40</c:v>
                </c:pt>
                <c:pt idx="5">
                  <c:v>34</c:v>
                </c:pt>
                <c:pt idx="6">
                  <c:v>30</c:v>
                </c:pt>
                <c:pt idx="7">
                  <c:v>38</c:v>
                </c:pt>
                <c:pt idx="8">
                  <c:v>37</c:v>
                </c:pt>
                <c:pt idx="9">
                  <c:v>23</c:v>
                </c:pt>
                <c:pt idx="10">
                  <c:v>29</c:v>
                </c:pt>
                <c:pt idx="11">
                  <c:v>28</c:v>
                </c:pt>
                <c:pt idx="12">
                  <c:v>31</c:v>
                </c:pt>
                <c:pt idx="13">
                  <c:v>39</c:v>
                </c:pt>
                <c:pt idx="14">
                  <c:v>31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Patients</c:v>
                </c:pt>
              </c:strCache>
            </c:strRef>
          </c:tx>
          <c:spPr>
            <a:solidFill>
              <a:srgbClr val="0A234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A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A234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7C9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7C9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7C9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7C9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07C91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07C91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0B4CC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0-9</c:v>
                  </c:pt>
                  <c:pt idx="1">
                    <c:v>10-19</c:v>
                  </c:pt>
                  <c:pt idx="2">
                    <c:v>20-29</c:v>
                  </c:pt>
                  <c:pt idx="3">
                    <c:v>30-39</c:v>
                  </c:pt>
                  <c:pt idx="4">
                    <c:v>40-49</c:v>
                  </c:pt>
                  <c:pt idx="5">
                    <c:v>50-59</c:v>
                  </c:pt>
                  <c:pt idx="6">
                    <c:v>60-69</c:v>
                  </c:pt>
                  <c:pt idx="7">
                    <c:v>70-79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113</c:v>
                </c:pt>
                <c:pt idx="1">
                  <c:v>127</c:v>
                </c:pt>
                <c:pt idx="2">
                  <c:v>144</c:v>
                </c:pt>
                <c:pt idx="3">
                  <c:v>126</c:v>
                </c:pt>
                <c:pt idx="4">
                  <c:v>119</c:v>
                </c:pt>
                <c:pt idx="5">
                  <c:v>109</c:v>
                </c:pt>
                <c:pt idx="6">
                  <c:v>125</c:v>
                </c:pt>
                <c:pt idx="7">
                  <c:v>128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A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A2342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A2342"/>
                </a:solidFill>
                <a:latin typeface="Arial"/>
              </a:rPr>
              <a:t>Gender Distribution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7C91"/>
              </a:solidFill>
              <a:effectLst/>
            </c:spPr>
          </c:dPt>
          <c:dPt>
            <c:idx val="1"/>
            <c:bubble3D val="0"/>
            <c:spPr>
              <a:solidFill>
                <a:srgbClr val="E07B39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Male</c:v>
                </c:pt>
                <c:pt idx="1">
                  <c:v>Female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519</c:v>
                </c:pt>
                <c:pt idx="1">
                  <c:v>472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A2342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A2342"/>
                </a:solidFill>
                <a:latin typeface="Arial"/>
              </a:rPr>
              <a:t>Daily Avg Wait Time (min)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Wait Time (min)</c:v>
                </c:pt>
              </c:strCache>
            </c:strRef>
          </c:tx>
          <c:spPr>
            <a:solidFill>
              <a:srgbClr val="E07B39"/>
            </a:solidFill>
            <a:ln w="31750" cap="flat">
              <a:solidFill>
                <a:srgbClr val="E07B3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07B39"/>
              </a:solidFill>
              <a:ln w="9525" cap="flat">
                <a:solidFill>
                  <a:srgbClr val="E07B3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1-Jun</c:v>
                  </c:pt>
                  <c:pt idx="1">
                    <c:v>5-Jun</c:v>
                  </c:pt>
                  <c:pt idx="2">
                    <c:v>9-Jun</c:v>
                  </c:pt>
                  <c:pt idx="3">
                    <c:v>13-Jun</c:v>
                  </c:pt>
                  <c:pt idx="4">
                    <c:v>17-Jun</c:v>
                  </c:pt>
                  <c:pt idx="5">
                    <c:v>21-Jun</c:v>
                  </c:pt>
                  <c:pt idx="6">
                    <c:v>25-Jun</c:v>
                  </c:pt>
                  <c:pt idx="7">
                    <c:v>30-Jun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34.3</c:v>
                </c:pt>
                <c:pt idx="1">
                  <c:v>33.8</c:v>
                </c:pt>
                <c:pt idx="2">
                  <c:v>36.5</c:v>
                </c:pt>
                <c:pt idx="3">
                  <c:v>37</c:v>
                </c:pt>
                <c:pt idx="4">
                  <c:v>33.2</c:v>
                </c:pt>
                <c:pt idx="5">
                  <c:v>29.9</c:v>
                </c:pt>
                <c:pt idx="6">
                  <c:v>37.1</c:v>
                </c:pt>
                <c:pt idx="7">
                  <c:v>39.6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Referrals</c:v>
                </c:pt>
              </c:strCache>
            </c:strRef>
          </c:tx>
          <c:spPr>
            <a:solidFill>
              <a:srgbClr val="007C9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A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General Practice</c:v>
                  </c:pt>
                  <c:pt idx="1">
                    <c:v>Orthopedics</c:v>
                  </c:pt>
                  <c:pt idx="2">
                    <c:v>Physiotherapy</c:v>
                  </c:pt>
                  <c:pt idx="3">
                    <c:v>Neurology</c:v>
                  </c:pt>
                  <c:pt idx="4">
                    <c:v>Cardiology</c:v>
                  </c:pt>
                  <c:pt idx="5">
                    <c:v>Gastroenterology</c:v>
                  </c:pt>
                  <c:pt idx="6">
                    <c:v>Renal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174</c:v>
                </c:pt>
                <c:pt idx="1">
                  <c:v>113</c:v>
                </c:pt>
                <c:pt idx="2">
                  <c:v>29</c:v>
                </c:pt>
                <c:pt idx="3">
                  <c:v>27</c:v>
                </c:pt>
                <c:pt idx="4">
                  <c:v>25</c:v>
                </c:pt>
                <c:pt idx="5">
                  <c:v>23</c:v>
                </c:pt>
                <c:pt idx="6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A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A2342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A2342"/>
                </a:solidFill>
                <a:latin typeface="Arial"/>
              </a:rPr>
              <a:t>Admission Status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Admission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7C91"/>
              </a:solidFill>
              <a:effectLst/>
            </c:spPr>
          </c:dPt>
          <c:dPt>
            <c:idx val="1"/>
            <c:bubble3D val="0"/>
            <c:spPr>
              <a:solidFill>
                <a:srgbClr val="0A2342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Not Admitted</c:v>
                </c:pt>
                <c:pt idx="1">
                  <c:v>Admitted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504</c:v>
                </c:pt>
                <c:pt idx="1">
                  <c:v>487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A2342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A2342"/>
                </a:solidFill>
                <a:latin typeface="Arial"/>
              </a:rPr>
              <a:t>Wait Time Status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Patients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B8C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Delay</c:v>
                  </c:pt>
                  <c:pt idx="1">
                    <c:v>On Time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608</c:v>
                </c:pt>
                <c:pt idx="1">
                  <c:v>383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400" kern="0" dirty="0">
                <a:solidFill>
                  <a:srgbClr val="0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EMERGENCY ROOM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Dashboard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788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0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End-to-End Project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3337560"/>
            <a:ext cx="3657600" cy="36576"/>
          </a:xfrm>
          <a:prstGeom prst="rect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566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Bullam Sagar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Hospital Emergency Room Dataset  |  Period: June 2024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0" y="109728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10000"/>
            </a:srgbClr>
          </a:solidFill>
          <a:ln w="19050">
            <a:solidFill>
              <a:srgbClr val="00B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1887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991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400800" y="166420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Patients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0" y="233172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10000"/>
            </a:srgbClr>
          </a:solidFill>
          <a:ln w="19050">
            <a:solidFill>
              <a:srgbClr val="00B4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24231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35.5 min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400800" y="289864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Wait Time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0" y="356616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10000"/>
            </a:srgbClr>
          </a:solidFill>
          <a:ln w="19050">
            <a:solidFill>
              <a:srgbClr val="00B4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36576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4.95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400800" y="413308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Score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502920" cy="502920"/>
          </a:xfrm>
          <a:prstGeom prst="ellipse">
            <a:avLst/>
          </a:prstGeom>
          <a:solidFill>
            <a:srgbClr val="007C91"/>
          </a:solidFill>
          <a:ln w="12700">
            <a:solidFill>
              <a:srgbClr val="007C9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69848" y="10972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Requirements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69848" y="1527048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KPIs and stakeholder objectives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331720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606040"/>
            <a:ext cx="502920" cy="502920"/>
          </a:xfrm>
          <a:prstGeom prst="ellipse">
            <a:avLst/>
          </a:prstGeom>
          <a:solidFill>
            <a:srgbClr val="007C91"/>
          </a:solidFill>
          <a:ln w="12700">
            <a:solidFill>
              <a:srgbClr val="007C9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69848" y="242316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69848" y="2852928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hospital ER dataset structure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657600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931920"/>
            <a:ext cx="502920" cy="502920"/>
          </a:xfrm>
          <a:prstGeom prst="ellipse">
            <a:avLst/>
          </a:prstGeom>
          <a:solidFill>
            <a:srgbClr val="007C91"/>
          </a:solidFill>
          <a:ln w="12700">
            <a:solidFill>
              <a:srgbClr val="007C9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931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69848" y="37490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Transformation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69848" y="4178808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and data quality checks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92040" y="1005840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0" y="1280160"/>
            <a:ext cx="502920" cy="502920"/>
          </a:xfrm>
          <a:prstGeom prst="ellipse">
            <a:avLst/>
          </a:prstGeom>
          <a:solidFill>
            <a:srgbClr val="007C91"/>
          </a:solidFill>
          <a:ln w="12700">
            <a:solidFill>
              <a:srgbClr val="007C9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41848" y="10972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41848" y="1527048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Relationships, DAX measures, calculated columns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92040" y="2331720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0" y="2606040"/>
            <a:ext cx="502920" cy="502920"/>
          </a:xfrm>
          <a:prstGeom prst="ellipse">
            <a:avLst/>
          </a:prstGeom>
          <a:solidFill>
            <a:srgbClr val="007C91"/>
          </a:solidFill>
          <a:ln w="12700">
            <a:solidFill>
              <a:srgbClr val="007C9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41848" y="242316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Design &amp; Development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641848" y="2852928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Charts, layout, and formatting in Power BI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92040" y="3657600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029200" y="3931920"/>
            <a:ext cx="502920" cy="502920"/>
          </a:xfrm>
          <a:prstGeom prst="ellipse">
            <a:avLst/>
          </a:prstGeom>
          <a:solidFill>
            <a:srgbClr val="007C91"/>
          </a:solidFill>
          <a:ln w="12700">
            <a:solidFill>
              <a:srgbClr val="007C9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0" y="3931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41848" y="37490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 Recommendations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641848" y="4178808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for stakeholder decisions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7C91"/>
          </a:solidFill>
          <a:ln w="12700">
            <a:solidFill>
              <a:srgbClr val="007C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REQUIREMENTS GATHERING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515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7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Inefficient patient flow management in the ER
</a:t>
            </a:r>
            <a:pPr indent="0" marL="0">
              <a:buNone/>
            </a:pPr>
            <a:r>
              <a:rPr lang="en-US" sz="1200" b="1" dirty="0">
                <a:solidFill>
                  <a:srgbClr val="007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wait times leading to poor patient experience
</a:t>
            </a:r>
            <a:pPr indent="0" marL="0">
              <a:buNone/>
            </a:pPr>
            <a:r>
              <a:rPr lang="en-US" sz="1200" b="1" dirty="0">
                <a:solidFill>
                  <a:srgbClr val="007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into department referral patterns
</a:t>
            </a:r>
            <a:pPr indent="0" marL="0">
              <a:buNone/>
            </a:pPr>
            <a:r>
              <a:rPr lang="en-US" sz="1200" b="1" dirty="0">
                <a:solidFill>
                  <a:srgbClr val="007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buNone/>
            </a:pP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tracking daily patient volume trends
</a:t>
            </a:r>
            <a:pPr indent="0" marL="0">
              <a:buNone/>
            </a:pPr>
            <a:r>
              <a:rPr lang="en-US" sz="1200" b="1" dirty="0">
                <a:solidFill>
                  <a:srgbClr val="007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pPr indent="0" marL="0">
              <a:buNone/>
            </a:pP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real-time KPI monitoring for management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960120"/>
            <a:ext cx="411480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0515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&amp; Objectives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00600" y="1554480"/>
            <a:ext cx="3794760" cy="640080"/>
          </a:xfrm>
          <a:prstGeom prst="roundRect">
            <a:avLst>
              <a:gd name="adj" fmla="val 7143"/>
            </a:avLst>
          </a:prstGeom>
          <a:solidFill>
            <a:srgbClr val="E8F4F8"/>
          </a:solidFill>
          <a:ln w="6350">
            <a:solidFill>
              <a:srgbClr val="00B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6002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of Patients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675120" y="16002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7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991 total in June 2024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00600" y="2304288"/>
            <a:ext cx="3794760" cy="640080"/>
          </a:xfrm>
          <a:prstGeom prst="roundRect">
            <a:avLst>
              <a:gd name="adj" fmla="val 7143"/>
            </a:avLst>
          </a:prstGeom>
          <a:solidFill>
            <a:srgbClr val="E8F4F8"/>
          </a:solidFill>
          <a:ln w="6350">
            <a:solidFill>
              <a:srgbClr val="00B4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235000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Wait Time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75120" y="235000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7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35.5 minutes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00600" y="3054096"/>
            <a:ext cx="3794760" cy="640080"/>
          </a:xfrm>
          <a:prstGeom prst="roundRect">
            <a:avLst>
              <a:gd name="adj" fmla="val 7143"/>
            </a:avLst>
          </a:prstGeom>
          <a:solidFill>
            <a:srgbClr val="E8F4F8"/>
          </a:solidFill>
          <a:ln w="6350">
            <a:solidFill>
              <a:srgbClr val="00B4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3099816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Satisfaction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75120" y="3099816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7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4.95 / 10 avg score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3803904"/>
            <a:ext cx="3794760" cy="640080"/>
          </a:xfrm>
          <a:prstGeom prst="roundRect">
            <a:avLst>
              <a:gd name="adj" fmla="val 7143"/>
            </a:avLst>
          </a:prstGeom>
          <a:solidFill>
            <a:srgbClr val="E8F4F8"/>
          </a:solidFill>
          <a:ln w="6350">
            <a:solidFill>
              <a:srgbClr val="00B4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3849624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Rate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75120" y="3849624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7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49.1% admitted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 &amp; STRUCTURE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914400"/>
          </a:xfrm>
          <a:prstGeom prst="roundRect">
            <a:avLst>
              <a:gd name="adj" fmla="val 8000"/>
            </a:avLst>
          </a:prstGeom>
          <a:solidFill>
            <a:srgbClr val="007C91"/>
          </a:solidFill>
          <a:ln w="12700">
            <a:solidFill>
              <a:srgbClr val="007C9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Hospital_Emergency_Room_Data.xlsx  |  Records: 991 Patients  |  Period: June 2024  |  Source: Power BI Project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011680"/>
          <a:ext cx="8595360" cy="2880360"/>
        </p:xfrm>
        <a:graphic>
          <a:graphicData uri="http://schemas.openxmlformats.org/drawingml/2006/table">
            <a:tbl>
              <a:tblPr/>
              <a:tblGrid>
                <a:gridCol w="2865120"/>
                <a:gridCol w="2865120"/>
                <a:gridCol w="28651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identifier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 date (June 2024)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in years (0–79)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Gender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 / Female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Waittime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Minutes waited in 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Satisfaction 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out of 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 Referral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Referred department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Admission 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Admitted / Not Admitted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7C91"/>
          </a:solidFill>
          <a:ln w="12700">
            <a:solidFill>
              <a:srgbClr val="007C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CLEANING, TRANSFORMATION &amp; MODELING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1298448"/>
            <a:ext cx="475488" cy="475488"/>
          </a:xfrm>
          <a:prstGeom prst="ellipse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29844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87552" y="105156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Connection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87552" y="14630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Excel file to Power BI Desktop via Get Data → Excel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31720" y="2130552"/>
            <a:ext cx="0" cy="155448"/>
          </a:xfrm>
          <a:prstGeom prst="line">
            <a:avLst/>
          </a:prstGeom>
          <a:noFill/>
          <a:ln w="19050">
            <a:solidFill>
              <a:srgbClr val="007C91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274320" y="2286000"/>
            <a:ext cx="41148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4048" y="2624328"/>
            <a:ext cx="475488" cy="475488"/>
          </a:xfrm>
          <a:prstGeom prst="ellipse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6243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87552" y="23774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Editor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87552" y="27889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Power Query: check column types, rename headers, remove nulls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331720" y="3456432"/>
            <a:ext cx="0" cy="155448"/>
          </a:xfrm>
          <a:prstGeom prst="line">
            <a:avLst/>
          </a:prstGeom>
          <a:noFill/>
          <a:ln w="19050">
            <a:solidFill>
              <a:srgbClr val="007C91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274320" y="3611880"/>
            <a:ext cx="41148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4048" y="3950208"/>
            <a:ext cx="475488" cy="475488"/>
          </a:xfrm>
          <a:prstGeom prst="ellipse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395020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87552" y="37033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87552" y="41148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blank rows, correct date formats, standardize gender labels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960120"/>
            <a:ext cx="41148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56048" y="1298448"/>
            <a:ext cx="475488" cy="475488"/>
          </a:xfrm>
          <a:prstGeom prst="ellipse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56048" y="129844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59552" y="105156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Columns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559552" y="14630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 (0-9, 10-19…), Wait Status (Ontime/Delay), Admission %  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03720" y="2130552"/>
            <a:ext cx="0" cy="155448"/>
          </a:xfrm>
          <a:prstGeom prst="line">
            <a:avLst/>
          </a:prstGeom>
          <a:noFill/>
          <a:ln w="19050">
            <a:solidFill>
              <a:srgbClr val="007C91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4846320" y="2286000"/>
            <a:ext cx="41148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956048" y="2624328"/>
            <a:ext cx="475488" cy="475488"/>
          </a:xfrm>
          <a:prstGeom prst="ellipse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56048" y="26243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559552" y="23774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559552" y="27889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relationships; create Date table for time intelligence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903720" y="3456432"/>
            <a:ext cx="0" cy="155448"/>
          </a:xfrm>
          <a:prstGeom prst="line">
            <a:avLst/>
          </a:prstGeom>
          <a:noFill/>
          <a:ln w="19050">
            <a:solidFill>
              <a:srgbClr val="007C91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4846320" y="3611880"/>
            <a:ext cx="41148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956048" y="3950208"/>
            <a:ext cx="475488" cy="475488"/>
          </a:xfrm>
          <a:prstGeom prst="ellipse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56048" y="395020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559552" y="37033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559552" y="41148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Patients, Avg Wait Time, Satisfaction Score, Delay Rate %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279392" y="21945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7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⟶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2024 — Emergency Room Dashboard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32588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FFFFFF">
              <a:alpha val="12000"/>
            </a:srgbClr>
          </a:solidFill>
          <a:ln w="19050">
            <a:solidFill>
              <a:srgbClr val="00B4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50876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4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74320" y="2167128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Patients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251460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32588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FFFFFF">
              <a:alpha val="12000"/>
            </a:srgbClr>
          </a:solidFill>
          <a:ln w="19050">
            <a:solidFill>
              <a:srgbClr val="E07B3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150876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07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35.5 min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200400" y="2167128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Wait Time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0" y="251460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average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32588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FFFFFF">
              <a:alpha val="12000"/>
            </a:srgbClr>
          </a:solidFill>
          <a:ln w="19050">
            <a:solidFill>
              <a:srgbClr val="0D9B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50876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4.95 / 10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126480" y="2167128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Score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26480" y="251460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avg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15468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FFFFFF">
              <a:alpha val="12000"/>
            </a:srgbClr>
          </a:solidFill>
          <a:ln w="19050">
            <a:solidFill>
              <a:srgbClr val="9B59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33756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B59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49.1%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274320" y="3995928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Rate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74320" y="434340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487 admitted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315468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FFFFFF">
              <a:alpha val="12000"/>
            </a:srgbClr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333756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61.4%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3200400" y="3995928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Rate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00400" y="434340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608 delayed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315468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FFFFFF">
              <a:alpha val="12000"/>
            </a:srgbClr>
          </a:solidFill>
          <a:ln w="19050">
            <a:solidFill>
              <a:srgbClr val="3498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333756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498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51.5% M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6126480" y="3995928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Split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26480" y="434340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519 M / 472 F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1 — PATIENT ADMISSIONS TREND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576072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263640" y="91440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0" y="987552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Day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0" y="13258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7C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 patients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6263640" y="228600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0" y="2359152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Day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0" y="26974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7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 patients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6263640" y="365760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00800" y="3730752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Average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0" y="40690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~33 / day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7C91"/>
          </a:solidFill>
          <a:ln w="12700">
            <a:solidFill>
              <a:srgbClr val="007C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2 — PATIENT AGE DISTRIBUTION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576072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263640" y="914400"/>
            <a:ext cx="2606040" cy="39776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0" y="10515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0" y="1508760"/>
            <a:ext cx="2331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7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20-29 yrs is the most frequent age group (144 patients)
</a:t>
            </a:r>
            <a:pPr indent="0" marL="0">
              <a:buNone/>
            </a:pPr>
            <a:r>
              <a:rPr lang="en-US" sz="1050" b="1" dirty="0">
                <a:solidFill>
                  <a:srgbClr val="007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70-79 yrs has the second highest visits (128)
</a:t>
            </a:r>
            <a:pPr indent="0" marL="0">
              <a:buNone/>
            </a:pPr>
            <a:r>
              <a:rPr lang="en-US" sz="1050" b="1" dirty="0">
                <a:solidFill>
                  <a:srgbClr val="007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50-59 yrs has the fewest visits (109)
</a:t>
            </a:r>
            <a:pPr indent="0" marL="0">
              <a:buNone/>
            </a:pPr>
            <a:r>
              <a:rPr lang="en-US" sz="1050" b="1" dirty="0">
                <a:solidFill>
                  <a:srgbClr val="007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Relatively even distribution across all age groups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3 &amp; 4 — GENDER ANALYSIS &amp; WAIT TIME TIMELINE</a:t>
            </a:r>
            <a:endParaRPr lang="en-US" sz="1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182880" y="960120"/>
          <a:ext cx="4114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182880" y="4206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519 (52.4%)  |  Female 472 (47.6%)</a:t>
            </a:r>
            <a:endParaRPr lang="en-US" sz="1100" dirty="0"/>
          </a:p>
        </p:txBody>
      </p:sp>
      <p:graphicFrame>
        <p:nvGraphicFramePr>
          <p:cNvPr id="6" name="Chart 1" descr=""/>
          <p:cNvGraphicFramePr/>
          <p:nvPr/>
        </p:nvGraphicFramePr>
        <p:xfrm>
          <a:off x="4754880" y="960120"/>
          <a:ext cx="4114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4754880" y="4206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time peaked at 41.3 min (Jun 11) and was lowest at 29.9 min (Jun 21)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7C91"/>
          </a:solidFill>
          <a:ln w="12700">
            <a:solidFill>
              <a:srgbClr val="007C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5 — DEPARTMENT REFERRALS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576072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263640" y="9144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355080" y="10058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596 patients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355080" y="146304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 NO referral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(60.1% walk-in)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263640" y="256032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0" y="265176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0" y="3063240"/>
            <a:ext cx="23317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0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Practice handles the bulk of referrals (44.9%)
</a:t>
            </a:r>
            <a:pPr indent="0" marL="0">
              <a:buNone/>
            </a:pPr>
            <a:r>
              <a:rPr lang="en-US" sz="1000" b="1" dirty="0">
                <a:solidFill>
                  <a:srgbClr val="007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0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Orthopedics is the next highest at 29.1%
</a:t>
            </a:r>
            <a:pPr indent="0" marL="0">
              <a:buNone/>
            </a:pPr>
            <a:r>
              <a:rPr lang="en-US" sz="1000" b="1" dirty="0">
                <a:solidFill>
                  <a:srgbClr val="007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10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Renal has very few referrals (only 4)
</a:t>
            </a:r>
            <a:pPr indent="0" marL="0">
              <a:buNone/>
            </a:pPr>
            <a:r>
              <a:rPr lang="en-US" sz="1000" b="1" dirty="0">
                <a:solidFill>
                  <a:srgbClr val="007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buNone/>
            </a:pPr>
            <a:r>
              <a:rPr lang="en-US" sz="10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of patients need no specialist referral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STATUS &amp; WAIT TIME ANALYSIS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182880" y="960120"/>
          <a:ext cx="4114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754880" y="960120"/>
          <a:ext cx="4114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274320" y="42519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61.4% of patients experienced delays in ER — key area for improvement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7C91"/>
          </a:solidFill>
          <a:ln w="12700">
            <a:solidFill>
              <a:srgbClr val="007C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LAYOUT &amp; DEVELOPMENT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8595360" cy="5029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Emergency Room Analysis Dashboard  |  June 2024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1920240" cy="640080"/>
          </a:xfrm>
          <a:prstGeom prst="roundRect">
            <a:avLst>
              <a:gd name="adj" fmla="val 8571"/>
            </a:avLst>
          </a:prstGeom>
          <a:solidFill>
            <a:srgbClr val="007C91"/>
          </a:solidFill>
          <a:ln w="12700">
            <a:solidFill>
              <a:srgbClr val="007C9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544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991 Patients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1554480"/>
            <a:ext cx="1920240" cy="640080"/>
          </a:xfrm>
          <a:prstGeom prst="roundRect">
            <a:avLst>
              <a:gd name="adj" fmla="val 8571"/>
            </a:avLst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15544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35.5 min Wait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554480"/>
            <a:ext cx="1920240" cy="640080"/>
          </a:xfrm>
          <a:prstGeom prst="roundRect">
            <a:avLst>
              <a:gd name="adj" fmla="val 8571"/>
            </a:avLst>
          </a:prstGeom>
          <a:solidFill>
            <a:srgbClr val="0D9B8C"/>
          </a:solidFill>
          <a:ln w="12700">
            <a:solidFill>
              <a:srgbClr val="0D9B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5544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4.95 Score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675120" y="1554480"/>
            <a:ext cx="1920240" cy="640080"/>
          </a:xfrm>
          <a:prstGeom prst="roundRect">
            <a:avLst>
              <a:gd name="adj" fmla="val 8571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15544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49.1% Admitted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331720"/>
            <a:ext cx="4114800" cy="1234440"/>
          </a:xfrm>
          <a:prstGeom prst="roundRect">
            <a:avLst>
              <a:gd name="adj" fmla="val 4444"/>
            </a:avLst>
          </a:prstGeom>
          <a:solidFill>
            <a:srgbClr val="E8F4F8"/>
          </a:solidFill>
          <a:ln w="6350">
            <a:solidFill>
              <a:srgbClr val="00B4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331720"/>
            <a:ext cx="4114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7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Patient Admission Trend (Line Chart)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2331720"/>
            <a:ext cx="4114800" cy="1234440"/>
          </a:xfrm>
          <a:prstGeom prst="roundRect">
            <a:avLst>
              <a:gd name="adj" fmla="val 4444"/>
            </a:avLst>
          </a:prstGeom>
          <a:solidFill>
            <a:srgbClr val="E8F4F8"/>
          </a:solidFill>
          <a:ln w="6350">
            <a:solidFill>
              <a:srgbClr val="00B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2331720"/>
            <a:ext cx="4114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7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Age Distribution (Bar Chart)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639312"/>
            <a:ext cx="1920240" cy="1097280"/>
          </a:xfrm>
          <a:prstGeom prst="roundRect">
            <a:avLst>
              <a:gd name="adj" fmla="val 5000"/>
            </a:avLst>
          </a:prstGeom>
          <a:solidFill>
            <a:srgbClr val="E8F4F8"/>
          </a:solidFill>
          <a:ln w="6350">
            <a:solidFill>
              <a:srgbClr val="00B4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639312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7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🍩 Gender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07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(Doughnut)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423160" y="3639312"/>
            <a:ext cx="2057400" cy="1097280"/>
          </a:xfrm>
          <a:prstGeom prst="roundRect">
            <a:avLst>
              <a:gd name="adj" fmla="val 5000"/>
            </a:avLst>
          </a:prstGeom>
          <a:solidFill>
            <a:srgbClr val="E8F4F8"/>
          </a:solidFill>
          <a:ln w="6350">
            <a:solidFill>
              <a:srgbClr val="00B4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23160" y="3639312"/>
            <a:ext cx="2057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7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🥧 Admission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07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(Pie Chart)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63440" y="3639312"/>
            <a:ext cx="4114800" cy="1097280"/>
          </a:xfrm>
          <a:prstGeom prst="roundRect">
            <a:avLst>
              <a:gd name="adj" fmla="val 5000"/>
            </a:avLst>
          </a:prstGeom>
          <a:solidFill>
            <a:srgbClr val="E8F4F8"/>
          </a:solidFill>
          <a:ln w="6350">
            <a:solidFill>
              <a:srgbClr val="00B4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3639312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7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Dept Referrals (Horizontal Bar)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 RECOMMENDATIONS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High Delay Rate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41732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61.4% patients face delays. Introduce fast-track triage for minor cases to reduce ER wait time below 30 min target.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09160" y="960120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051560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Admission Balance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0" y="141732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Near-equal admission split (49%/51%) suggests good triage capacity. Monitor daily to prevent over-admission spikes.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331720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2423160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👴 Age Groups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278892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20-29 and 70-79 are peak age groups. Allocate dedicated beds and specialist availability for young adults and elderly.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09160" y="2331720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2423160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🩺 Referral Optimization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278892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patients need no referral. Strengthen GP support to reduce specialist load and improve turnaround speed.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703320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" y="3794760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Satisfaction Score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" y="416052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4.95/10 indicates room to improve. Reducing wait time directly correlates with satisfaction improvement.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3703320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46320" y="3794760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Peak Day Planning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416052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1 saw 43 patients. Use trend analysis to predict high-load days and pre-allocate staff and resources.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CONCLUSION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 ER Dashboard — Key Takeaways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7772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0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built end-to-end from raw Excel data to interactive visuals
</a:t>
            </a:r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0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core KPIs tracked: Patient Volume, Wait Time, and Satisfaction Score
</a:t>
            </a:r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0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charts developed: Admissions Trend, Age Distribution, Gender, Timelines, Dept Referrals
</a:t>
            </a:r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0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 &amp; calculated columns enable dynamic filtering and real-time monitoring
</a:t>
            </a:r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0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61.4% delay rate identified as the primary area needing operational improvement
</a:t>
            </a:r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0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empowers stakeholders to make data-driven decisions in the 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Bullam Sagar  |  Power BI Project  |  June 2024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Emergency Room Analysis Dashboard - Power BI</dc:title>
  <dc:subject>PptxGenJS Presentation</dc:subject>
  <dc:creator>Bullam Sagar</dc:creator>
  <cp:lastModifiedBy>Bullam Sagar</cp:lastModifiedBy>
  <cp:revision>1</cp:revision>
  <dcterms:created xsi:type="dcterms:W3CDTF">2026-06-18T04:15:18Z</dcterms:created>
  <dcterms:modified xsi:type="dcterms:W3CDTF">2026-06-18T04:15:18Z</dcterms:modified>
</cp:coreProperties>
</file>